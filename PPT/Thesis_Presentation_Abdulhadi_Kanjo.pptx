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4" r:id="rId12"/>
    <p:sldId id="265" r:id="rId13"/>
    <p:sldId id="266" r:id="rId14"/>
    <p:sldId id="275" r:id="rId15"/>
    <p:sldId id="276" r:id="rId16"/>
    <p:sldId id="267" r:id="rId17"/>
    <p:sldId id="268" r:id="rId18"/>
    <p:sldId id="269" r:id="rId19"/>
    <p:sldId id="277" r:id="rId20"/>
    <p:sldId id="270" r:id="rId21"/>
    <p:sldId id="271" r:id="rId22"/>
    <p:sldId id="272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6AD52-C9AB-47C3-A64A-7FE81826DBF6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A6812-691C-4B22-9A79-D8BC21F9D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08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77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02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8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70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99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0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84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9F717-CA1F-4FAE-9C78-E12E21A837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36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9F717-CA1F-4FAE-9C78-E12E21A837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9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29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3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6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9F717-CA1F-4FAE-9C78-E12E21A837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47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9F717-CA1F-4FAE-9C78-E12E21A837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75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54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38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9F717-CA1F-4FAE-9C78-E12E21A8372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3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A6812-691C-4B22-9A79-D8BC21F9D3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3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Fairness and Transparency in AI Models for Credit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0E7FF"/>
                </a:solidFill>
              </a:defRPr>
            </a:pPr>
            <a:r>
              <a:t>An Empirical Investigation Using XGBoost and 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Student: Abdulhadi Mohammed Fakhreddin Kanjo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Student ID: PN1150325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Programme: MSc Data Science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Institution: Liverpool John Moores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1. Background: Context and motivation for this research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2. Problem Statement: Why fairness matters in credit scoring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3. Literature Review: Key concepts and related work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4. Methodology: Research design and five-phase framework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5. Data &amp; Models: Dataset and model development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6. Explainability: SHAP analysis and feature importance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7. Fairness &amp; Results: Bias detection and mitigation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8. Recommendations &amp; Conclusion: Implementation guidelines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Background &amp;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Credit scoring determines loan approvals and interest rates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ML models improve accuracy but create "black box" opacity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Algorithmic bias can discriminate against demographic groups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Challenge: Balance accuracy, fairness, and transparency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Goal: Design ethical AI systems for regulatory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Research Problem &amp;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Main Question: How can we develop fair, transparent credit scoring systems?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endParaRPr/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RQ1: How effective are XAI techniques in explaining decisions?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RQ2: Do ML models exhibit algorithmic bias across groups?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RQ3: Which fairness interventions best reduce bias?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Literature Review: 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Explainable AI: SHAP (Shapley values), LIME, Counterfactuals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Models: Logistic Regression, Decision Trees, Random Forest, XGBoost, LightGBM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Fairness Metrics: Demographic Parity, Equal Opportunity, Disparate Impact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Bias Mitigation: Pre-processing, In-processing, Post-processing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Research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Phase 1: Data Preparation (cleaning, imputation, feature engineering, SMOTE)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Phase 2: Baseline Development (5 models, hyperparameter optimization)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Phase 3: Explainability (SHAP, LIME, counterfactuals)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Phase 4: Fairness Assessment (detect bias across groups)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Phase 5: Enhancement (fairness interventions, trade-off analysis)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Dataset: LendingClub Loans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9,968 loan records with 147 features (after engineering)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Data Split: 60% training, 20% validation, 20% test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Class Imbalance: 13.1% default rate (extreme imbalance)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Protected Attribute: Home ownership (renters vs. homeowners)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Key Features: Loan amount, interest rate, income, credit grade, DTI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Stage 1: Data Cleaning (remove duplicates, winsorize outliers)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Stage 2: Imputation (MICE for numerical, mode for categorical)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Stage 3: Feature Engineering (create financial ratios, risk indicators)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Stage 4: Encoding &amp; SMOTE (binary target, balanced training set)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Result: 9,968 records × 147 features with zero missing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Feature Correlation Analysis (Top 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rrelation_heatmap_top25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9" y="1024128"/>
            <a:ext cx="7498079" cy="40827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visualization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7772400" cy="4119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Model Development: 5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Logistic Regression: Interpretable baseline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Decision Tree: Rule-based predictions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Random Forest: Ensemble method, 93% AUC-ROC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XGBoost: Gradient boosting, 91% AUC-ROC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LightGBM: Best performer, 97.1% AUC-ROC 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Baseline 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LightGBM: 97.1% AUC-ROC (highest)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Overall Accuracy: 97.7%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True Negative Rate: 98.0%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Friedman Test p &lt; 0.0001 (statistically significant)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Key Insight: High accuracy ≠ fairness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Explainability: SHAP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Quality Metrics: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Stability: 97% (explanations consistent)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Fidelity: 92% (accurately reflect model)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Comprehensibility: 85% (stakeholders understand)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Top Features: Interest rate, Revolving utilization, Loan amount, Annual income, DTI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SHAP Feature Importance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hap_summary_bar_plot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4206240" cy="3446385"/>
          </a:xfrm>
          <a:prstGeom prst="rect">
            <a:avLst/>
          </a:prstGeom>
        </p:spPr>
      </p:pic>
      <p:pic>
        <p:nvPicPr>
          <p:cNvPr id="5" name="Picture 4" descr="shap_summary_dot_plot_conver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22960"/>
            <a:ext cx="3840480" cy="3253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Stability: 97% | Fidelity: 92% | Comprehensibility: 85% | Top Feature: Recoveries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SHAP Detailed: Dependence Plot &amp; Individual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hap_dependence_plot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389120" cy="3634740"/>
          </a:xfrm>
          <a:prstGeom prst="rect">
            <a:avLst/>
          </a:prstGeom>
        </p:spPr>
      </p:pic>
      <p:pic>
        <p:nvPicPr>
          <p:cNvPr id="5" name="Picture 4" descr="shap_waterfall_plot_conver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22960"/>
            <a:ext cx="420624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Fairness Analysis: Baseline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Protected Attribute: Home Ownership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Demographic Parity Difference: 3.8% (biased)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Disparate Impact: 0.724 (below 0.8 legal threshold)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Renter Approval: 86.3% vs. Homeowner: 90.1%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Challenge: Measurable bias detected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Fairness Interventions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Reweighting (Pre-processing): Minimal effect (3.6% vs 3.8%)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Fairness Constraints (In-processing): Specialized approach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Threshold Optimization (Post-processing) ⭐ BEST: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→ Reduces bias 3.8% → 0.2% (95% reduction)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→ Accuracy decrease: 1.6% only (97.7% → 96.1%)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Results: Fairness-Accuracy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Baseline XGBoost: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Accuracy: 97.7%, DP Difference: 3.8%, No explanations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Optimized XGBoost (Post-threshold):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• Accuracy: 96.1%, DP Difference: 0.2%, 82% get feedback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Outcome: Pareto optimal - fairness + accuracy achieved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74320"/>
            <a:ext cx="85142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rPr sz="2400" dirty="0"/>
              <a:t>Results: Fairness-Accuracy Trade-offs (Pareto Frontier)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reto_frontier_pa_Age_Under_5_Years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24128"/>
            <a:ext cx="7315200" cy="41193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Findings: LightGBM + SHAP excellent technical foundation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SHAP: 97% stability, 85% comprehensibility, practical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Threshold Optimization: Most effective bias mitigation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Recommendations: Deploy LightGBM + post-optimization + SHAP monitoring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Set fairness thresholds, monitor bias drift continuously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t>Implementation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Challenges: Class imbalance, SHAP computation, metric conflicts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Lessons: Fairness is achievable with thoughtful design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Key Insight: Fairness and accuracy are complementary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Operationally: Continuous monitoring prevents bias drift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F2937"/>
                </a:solidFill>
              </a:defRPr>
            </a:pPr>
            <a:r>
              <a:t>Impact: Enables ethical, compliant credit scoring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38110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</a:defRPr>
            </a:pPr>
            <a:r>
              <a:rPr lang="en-US" dirty="0"/>
              <a:t>Thank You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920</Words>
  <Application>Microsoft Office PowerPoint</Application>
  <PresentationFormat>On-screen Show (16:9)</PresentationFormat>
  <Paragraphs>128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Abdulhadi Mohammed Fakhreddin Kanjo</cp:lastModifiedBy>
  <cp:revision>22</cp:revision>
  <dcterms:created xsi:type="dcterms:W3CDTF">2013-01-27T09:14:16Z</dcterms:created>
  <dcterms:modified xsi:type="dcterms:W3CDTF">2025-11-09T18:32:55Z</dcterms:modified>
  <cp:category/>
</cp:coreProperties>
</file>